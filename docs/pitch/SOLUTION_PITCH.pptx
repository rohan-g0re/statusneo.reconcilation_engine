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Post-claim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01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788920"/>
            <a:ext cx="1371600" cy="38100"/>
          </a:xfrm>
          <a:prstGeom prst="rect">
            <a:avLst/>
          </a:prstGeom>
          <a:solidFill>
            <a:srgbClr val="D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971800"/>
            <a:ext cx="882748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1E1E1E"/>
                </a:solidFill>
                <a:latin typeface="Cascadia Mono"/>
              </a:rPr>
              <a:t>Post-Claim Pharmacy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800" b="1" i="0">
                <a:solidFill>
                  <a:srgbClr val="1E1E1E"/>
                </a:solidFill>
                <a:latin typeface="Cascadia Mono"/>
              </a:rPr>
              <a:t>Financial Reconciliation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498848"/>
            <a:ext cx="77509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1E1E1E"/>
                </a:solidFill>
                <a:latin typeface="Georgia"/>
              </a:rPr>
              <a:t>Four independent feeds, no shared claim number, and one question: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1E1E1E"/>
                </a:solidFill>
                <a:latin typeface="Georgia"/>
              </a:rPr>
              <a:t>what were we owed, what arrived, and what needs a human?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413248"/>
            <a:ext cx="77509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50" b="0" i="0">
                <a:solidFill>
                  <a:srgbClr val="55534E"/>
                </a:solidFill>
                <a:latin typeface="Georgia"/>
              </a:rPr>
              <a:t>Every number is computed in Python. The model only explains numbers it was handed.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THREE ROADS AND A WITNESS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Post-claim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05840"/>
            <a:ext cx="1076523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400" b="1" i="0">
                <a:solidFill>
                  <a:srgbClr val="1E1E1E"/>
                </a:solidFill>
                <a:latin typeface="Cascadia Mono"/>
              </a:rPr>
              <a:t>A drug goes out the door. Three parties now owe money, and none of them talk.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331720"/>
            <a:ext cx="2430703" cy="25400"/>
          </a:xfrm>
          <a:prstGeom prst="rect">
            <a:avLst/>
          </a:prstGeom>
          <a:solidFill>
            <a:srgbClr val="1A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459736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1" i="0" spc="120">
                <a:solidFill>
                  <a:srgbClr val="55534E"/>
                </a:solidFill>
                <a:latin typeface="Cascadia Mono"/>
              </a:rPr>
              <a:t>PHARMACY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52344"/>
            <a:ext cx="243070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Georgia"/>
              </a:rPr>
              <a:t>Pills at a counter, billed to a </a:t>
            </a:r>
            <a:r>
              <a:rPr sz="1150" b="1" i="0">
                <a:solidFill>
                  <a:srgbClr val="1E1E1E"/>
                </a:solidFill>
                <a:latin typeface="Georgia"/>
              </a:rPr>
              <a:t>PBM</a:t>
            </a:r>
            <a:r>
              <a:rPr sz="1150" b="0" i="0">
                <a:solidFill>
                  <a:srgbClr val="1E1E1E"/>
                </a:solidFill>
                <a:latin typeface="Georgia"/>
              </a:rPr>
              <a:t>. Adjudicated in seconds, paid in weeks.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1407" y="2331720"/>
            <a:ext cx="2430703" cy="25400"/>
          </a:xfrm>
          <a:prstGeom prst="rect">
            <a:avLst/>
          </a:prstGeom>
          <a:solidFill>
            <a:srgbClr val="1A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1407" y="2459736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1" i="0" spc="120">
                <a:solidFill>
                  <a:srgbClr val="55534E"/>
                </a:solidFill>
                <a:latin typeface="Cascadia Mono"/>
              </a:rPr>
              <a:t>MEDICAL BENEFIT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1407" y="2752344"/>
            <a:ext cx="243070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Georgia"/>
              </a:rPr>
              <a:t>Drugs infused in a chair, billed to a </a:t>
            </a:r>
            <a:r>
              <a:rPr sz="1150" b="1" i="0">
                <a:solidFill>
                  <a:srgbClr val="1E1E1E"/>
                </a:solidFill>
                <a:latin typeface="Georgia"/>
              </a:rPr>
              <a:t>medical payer</a:t>
            </a:r>
            <a:r>
              <a:rPr sz="1150" b="0" i="0">
                <a:solidFill>
                  <a:srgbClr val="1E1E1E"/>
                </a:solidFill>
                <a:latin typeface="Georgia"/>
              </a:rPr>
              <a:t> via a clearinghouse.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9583" y="2331720"/>
            <a:ext cx="2430703" cy="25400"/>
          </a:xfrm>
          <a:prstGeom prst="rect">
            <a:avLst/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9583" y="2459736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1" i="0" spc="120">
                <a:solidFill>
                  <a:srgbClr val="55534E"/>
                </a:solidFill>
                <a:latin typeface="Cascadia Mono"/>
              </a:rPr>
              <a:t>340B REBATE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9583" y="2752344"/>
            <a:ext cx="243070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Georgia"/>
              </a:rPr>
              <a:t>A manufacturer owes cash back — but only once a </a:t>
            </a:r>
            <a:r>
              <a:rPr sz="1150" b="1" i="0">
                <a:solidFill>
                  <a:srgbClr val="1E1E1E"/>
                </a:solidFill>
                <a:latin typeface="Georgia"/>
              </a:rPr>
              <a:t>TPA</a:t>
            </a:r>
            <a:r>
              <a:rPr sz="1150" b="0" i="0">
                <a:solidFill>
                  <a:srgbClr val="1E1E1E"/>
                </a:solidFill>
                <a:latin typeface="Georgia"/>
              </a:rPr>
              <a:t> rules the dispense qualifies.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47759" y="2331720"/>
            <a:ext cx="2430703" cy="25400"/>
          </a:xfrm>
          <a:prstGeom prst="rect">
            <a:avLst/>
          </a:prstGeom>
          <a:solidFill>
            <a:srgbClr val="2F8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7759" y="2459736"/>
            <a:ext cx="2430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1" i="0" spc="120">
                <a:solidFill>
                  <a:srgbClr val="55534E"/>
                </a:solidFill>
                <a:latin typeface="Cascadia Mono"/>
              </a:rPr>
              <a:t>THE 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7759" y="2752344"/>
            <a:ext cx="243070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 i="0">
                <a:solidFill>
                  <a:srgbClr val="1E1E1E"/>
                </a:solidFill>
                <a:latin typeface="Georgia"/>
              </a:rPr>
              <a:t>Owes nothing. It is the only proof the other three actually landed.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97680"/>
            <a:ext cx="99040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500" b="0" i="0">
                <a:solidFill>
                  <a:srgbClr val="1E1E1E"/>
                </a:solidFill>
                <a:latin typeface="Georgia"/>
              </a:rPr>
              <a:t>Nobody sends the hospital a statement saying </a:t>
            </a:r>
            <a:r>
              <a:rPr sz="1500" b="0" i="1">
                <a:solidFill>
                  <a:srgbClr val="1E1E1E"/>
                </a:solidFill>
                <a:latin typeface="Georgia"/>
              </a:rPr>
              <a:t>here is what you are owed and here is what you got.</a:t>
            </a:r>
            <a:r>
              <a:rPr sz="1500" b="0" i="0">
                <a:solidFill>
                  <a:srgbClr val="1E1E1E"/>
                </a:solidFill>
                <a:latin typeface="Georgia"/>
              </a:rPr>
              <a:t> </a:t>
            </a:r>
            <a:r>
              <a:rPr sz="1500" b="1" i="0">
                <a:solidFill>
                  <a:srgbClr val="1E1E1E"/>
                </a:solidFill>
                <a:latin typeface="Georgia"/>
              </a:rPr>
              <a:t>That statement is the product.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THE ARGUMENT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THREE THREADS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Post-claim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987552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 i="0" spc="120">
                <a:solidFill>
                  <a:srgbClr val="D02B2B"/>
                </a:solidFill>
                <a:latin typeface="Cascadia Mono"/>
              </a:rPr>
              <a:t>EVERY DESIGN DECISION IS ONE OF THESE THREE WEARING A DIFFERENT 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 i="0">
                <a:solidFill>
                  <a:srgbClr val="8A8781"/>
                </a:solidFill>
                <a:latin typeface="Cascadia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92224"/>
            <a:ext cx="101068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350" b="1" i="0">
                <a:solidFill>
                  <a:srgbClr val="1E1E1E"/>
                </a:solidFill>
                <a:latin typeface="Georgia"/>
              </a:rPr>
              <a:t>Nothing carries one claim number end to end.</a:t>
            </a:r>
            <a:r>
              <a:rPr sz="1350" b="0" i="0">
                <a:solidFill>
                  <a:srgbClr val="1E1E1E"/>
                </a:solidFill>
                <a:latin typeface="Georgia"/>
              </a:rPr>
              <a:t> There is no shared ID. That is the hard part — not the arithmetic.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862072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063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 i="0">
                <a:solidFill>
                  <a:srgbClr val="8A8781"/>
                </a:solidFill>
                <a:latin typeface="Cascadia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26664"/>
            <a:ext cx="101068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350" b="1" i="0">
                <a:solidFill>
                  <a:srgbClr val="1E1E1E"/>
                </a:solidFill>
                <a:latin typeface="Georgia"/>
              </a:rPr>
              <a:t>The system never guesses.</a:t>
            </a:r>
            <a:r>
              <a:rPr sz="1350" b="0" i="0">
                <a:solidFill>
                  <a:srgbClr val="1E1E1E"/>
                </a:solidFill>
                <a:latin typeface="Georgia"/>
              </a:rPr>
              <a:t> A wrong match looks identical to a correct one in every report afterwards, so it parks instead.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4096512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297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 i="0">
                <a:solidFill>
                  <a:srgbClr val="8A8781"/>
                </a:solidFill>
                <a:latin typeface="Cascadia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61104"/>
            <a:ext cx="1010686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350" b="1" i="0">
                <a:solidFill>
                  <a:srgbClr val="1E1E1E"/>
                </a:solidFill>
                <a:latin typeface="Georgia"/>
              </a:rPr>
              <a:t>Everything is a replay.</a:t>
            </a:r>
            <a:r>
              <a:rPr sz="1350" b="0" i="0">
                <a:solidFill>
                  <a:srgbClr val="1E1E1E"/>
                </a:solidFill>
                <a:latin typeface="Georgia"/>
              </a:rPr>
              <a:t> Delete every answer it has produced, feed it the same files, get the same answers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FIVE BLOCKS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Connectors fetch and never interpret · ingest writes records in · the engine writes verdicts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080261" y="960120"/>
            <a:ext cx="4031171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system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989" y="1069848"/>
            <a:ext cx="3811715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THE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A number a model produced is a number you cannot defend in an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1011931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400" b="1" i="0">
                <a:solidFill>
                  <a:srgbClr val="1E1E1E"/>
                </a:solidFill>
                <a:latin typeface="Cascadia Mono"/>
              </a:rPr>
              <a:t>Every number is computed in Python.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400" b="1" i="0">
                <a:solidFill>
                  <a:srgbClr val="1E1E1E"/>
                </a:solidFill>
                <a:latin typeface="Cascadia Mono"/>
              </a:rPr>
              <a:t>The model only explains numbers it was handed.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17520"/>
            <a:ext cx="32836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E1E1E"/>
                </a:solidFill>
                <a:latin typeface="Cascadia Mono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84448"/>
            <a:ext cx="32836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TOOLS THE AGENTS CAN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4042" y="3017520"/>
            <a:ext cx="32836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E1E1E"/>
                </a:solidFill>
                <a:latin typeface="Cascadia Mono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4042" y="3584448"/>
            <a:ext cx="32836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OF THEM READ-ONLY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4852" y="3017520"/>
            <a:ext cx="32836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D02B2B"/>
                </a:solidFill>
                <a:latin typeface="Cascadia Mo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4852" y="3584448"/>
            <a:ext cx="32836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WRITE TOOLS IN ANY MODEL'S TOOL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617720"/>
            <a:ext cx="96887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500" b="0" i="0">
                <a:solidFill>
                  <a:srgbClr val="1E1E1E"/>
                </a:solidFill>
                <a:latin typeface="Georgia"/>
              </a:rPr>
              <a:t>The one write creates a </a:t>
            </a:r>
            <a:r>
              <a:rPr sz="1500" b="1" i="0">
                <a:solidFill>
                  <a:srgbClr val="1E1E1E"/>
                </a:solidFill>
                <a:latin typeface="Georgia"/>
              </a:rPr>
              <a:t>work item</a:t>
            </a:r>
            <a:r>
              <a:rPr sz="1500" b="0" i="0">
                <a:solidFill>
                  <a:srgbClr val="1E1E1E"/>
                </a:solidFill>
                <a:latin typeface="Georgia"/>
              </a:rPr>
              <a:t> for a human. Role tool lists are built by </a:t>
            </a:r>
            <a:r>
              <a:rPr sz="1500" b="0" i="1">
                <a:solidFill>
                  <a:srgbClr val="1E1E1E"/>
                </a:solidFill>
                <a:latin typeface="Georgia"/>
              </a:rPr>
              <a:t>removing</a:t>
            </a:r>
            <a:r>
              <a:rPr sz="1500" b="0" i="0">
                <a:solidFill>
                  <a:srgbClr val="1E1E1E"/>
                </a:solidFill>
                <a:latin typeface="Georgia"/>
              </a:rPr>
              <a:t> it, so no prompt can reach it — and the record names the person who pressed the button, not the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MAKING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BUILT BACKWARDS FROM A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A generator never sees an episode id, a verdict, or an expected amount — asserted at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987552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E1E1E"/>
                </a:solidFill>
                <a:latin typeface="Cascadia Mono"/>
              </a:rPr>
              <a:t>12.09bn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RAW COMBINATIONS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1407" y="987552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A66B0"/>
                </a:solidFill>
                <a:latin typeface="Cascadia Mono"/>
              </a:rPr>
              <a:t>4,224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407" y="1554480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LEGALLY POSSIBLE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9583" y="987552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A66B0"/>
                </a:solidFill>
                <a:latin typeface="Cascadia Mono"/>
              </a:rPr>
              <a:t>372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9583" y="1554480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VERDICT PAIRS — ALL REACHABLE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7759" y="987552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2F8A41"/>
                </a:solidFill>
                <a:latin typeface="Cascadia Mono"/>
              </a:rPr>
              <a:t>4,224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7759" y="1554480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REPRODUCED BY THE ENGINE · NO THRESHOLD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8045" y="2395728"/>
            <a:ext cx="6075603" cy="35021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-data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773" y="2505456"/>
            <a:ext cx="5856147" cy="32826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BUILDING AN EPISODE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SIX ARRIVALS, ONE EPISODE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Episode E-000012 · every code read off the running engine · a record that fits nowhere is parked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07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995051" y="960120"/>
            <a:ext cx="6201591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episode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779" y="1069848"/>
            <a:ext cx="5982135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BUILDING AN EPISODE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THE 340B REBATE, DOOR BY DOOR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Qualification is the TPA's to assert · approval and payment belong to Beacon and the manufacturer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08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0885" y="960120"/>
            <a:ext cx="8769924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-rebate-track-do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13" y="1069848"/>
            <a:ext cx="8550468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THE HARD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THREE BRIDGES, EACH WITH A NAMED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No identifier normalisation on the match path — 7845102 and 07845102 build different keys, on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09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935492" y="960120"/>
            <a:ext cx="6320711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crosswalk-ke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220" y="1069848"/>
            <a:ext cx="6101255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THE HARD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HOW ONE EPISODE GETS ASSEMBLED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The episode is the hub · crosswalk_key is the one lookup table · a miss parks and comes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10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921750" y="960120"/>
            <a:ext cx="10348194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-episode-assemb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78" y="1069848"/>
            <a:ext cx="10128738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THE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EVIDENCE, DIMENSIONS, VERDICT, DISPOSITION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A pure function of (episode, cursor) · 43 track verdicts + 7 cross-track rules · aging is never an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11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862882" y="960120"/>
            <a:ext cx="4465929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verdict-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610" y="1069848"/>
            <a:ext cx="4246473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MEASURED, NOT ASSERTED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Post-claim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12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51560"/>
            <a:ext cx="1076523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400" b="1" i="0">
                <a:solidFill>
                  <a:srgbClr val="1E1E1E"/>
                </a:solidFill>
                <a:latin typeface="Cascadia Mono"/>
              </a:rPr>
              <a:t>The difference between a claim and a demonstration.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77440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2F8A41"/>
                </a:solidFill>
                <a:latin typeface="Cascadia Mono"/>
              </a:rPr>
              <a:t>4,224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944368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OF 4,224 ORACLE CONFIGURATIONS · NO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407" y="2377440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2F8A41"/>
                </a:solidFill>
                <a:latin typeface="Cascadia Mono"/>
              </a:rPr>
              <a:t>99.6%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1407" y="2944368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CROSSWALK REASSEMBLY AGAINST A WITHHELD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9583" y="2377440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E1E1E"/>
                </a:solidFill>
                <a:latin typeface="Cascadia Mono"/>
              </a:rPr>
              <a:t>978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9583" y="2944368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TESTS PASSING · NO API KEY, NO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7759" y="2377440"/>
            <a:ext cx="243070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700" b="1" i="0">
                <a:solidFill>
                  <a:srgbClr val="1E1E1E"/>
                </a:solidFill>
                <a:latin typeface="Cascadia Mono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7759" y="2944368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TABLE SCANS · EVERY HOT QUERY PINS ITS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160520"/>
            <a:ext cx="1011931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sz="1300" b="1" i="0">
                <a:solidFill>
                  <a:srgbClr val="55534E"/>
                </a:solidFill>
                <a:latin typeface="Georgia"/>
              </a:rPr>
              <a:t>Stated, not hidden:</a:t>
            </a:r>
            <a:r>
              <a:rPr sz="1300" b="0" i="0">
                <a:solidFill>
                  <a:srgbClr val="55534E"/>
                </a:solidFill>
                <a:latin typeface="Georgia"/>
              </a:rPr>
              <a:t> no authentication and no tenant isolation yet; five of the 1,354 resolvable episodes do not reproduce their intended verdict; one query-plan test fails and is reported as a failure rather than rounded to green.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Post-claim reconciliation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13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31720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 i="0" spc="120">
                <a:solidFill>
                  <a:srgbClr val="D02B2B"/>
                </a:solidFill>
                <a:latin typeface="Cascadia Mono"/>
              </a:rPr>
              <a:t>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974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4400" b="1" i="0">
                <a:solidFill>
                  <a:srgbClr val="1E1E1E"/>
                </a:solidFill>
                <a:latin typeface="Cascadia Mono"/>
              </a:rPr>
              <a:t>What we built.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886200"/>
            <a:ext cx="86121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1E1E1E"/>
                </a:solidFill>
                <a:latin typeface="Georgia"/>
              </a:rPr>
              <a:t>A React dashboard over the read API, an episode dossier, the connector fabric, and an agent layer that explains but never calculates.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THE BOOK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Every figure on screen was written by the engine and is returned verbatim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14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593" y="960120"/>
            <a:ext cx="5000153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que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21" y="1069848"/>
            <a:ext cx="4780697" cy="4443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5623560"/>
            <a:ext cx="51768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REPLAY CURSOR · THREE DISPOSITIONS, COUNTED 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1587" y="960120"/>
            <a:ext cx="5176875" cy="398731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ot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315" y="1069848"/>
            <a:ext cx="4957419" cy="37678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1587" y="5623560"/>
            <a:ext cx="51768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THE EXCEPTION QUEUE — A QUERY, NOT A TABLE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ONE EPISODE, THEN THE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The claim was denied and the rebate was paid anyway — a story no single-track view can tell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15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1275" y="960120"/>
            <a:ext cx="25147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doss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03" y="1069848"/>
            <a:ext cx="2295244" cy="4443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5623560"/>
            <a:ext cx="40907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E-000006 · B-10 / C-08 · X-1 CROSS-TRACK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3135" y="960120"/>
            <a:ext cx="3447692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7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ot-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863" y="1069848"/>
            <a:ext cx="3228236" cy="4443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15499" y="5623560"/>
            <a:ext cx="62629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 spc="120">
                <a:solidFill>
                  <a:srgbClr val="8A8781"/>
                </a:solidFill>
                <a:latin typeface="Cascadia Mono"/>
              </a:rPr>
              <a:t>WHAT HAPPENED · WHY IT IS OPEN · WHAT IT COULD NOT DETERMINE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55534E"/>
                </a:solidFill>
                <a:latin typeface="Cascadia Mono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9324" y="402336"/>
            <a:ext cx="64591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900" b="0" i="0" spc="120">
                <a:solidFill>
                  <a:srgbClr val="8A8781"/>
                </a:solidFill>
                <a:latin typeface="Cascadia Mono"/>
              </a:rPr>
              <a:t>SWITCHING TO THE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676656"/>
            <a:ext cx="10765231" cy="9525"/>
          </a:xfrm>
          <a:prstGeom prst="rect">
            <a:avLst/>
          </a:prstGeom>
          <a:solidFill>
            <a:srgbClr val="D9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6071616"/>
            <a:ext cx="10765231" cy="9525"/>
          </a:xfrm>
          <a:prstGeom prst="rect">
            <a:avLst/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126480"/>
            <a:ext cx="88274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localhost:5173 · profile demo · seed 20250701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40721" y="6126480"/>
            <a:ext cx="19377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2000"/>
              </a:lnSpc>
              <a:spcAft>
                <a:spcPts val="0"/>
              </a:spcAft>
            </a:pPr>
            <a:r>
              <a:rPr sz="850" b="0" i="0">
                <a:solidFill>
                  <a:srgbClr val="8A8781"/>
                </a:solidFill>
                <a:latin typeface="Cascadia Mono"/>
              </a:rPr>
              <a:t>16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097280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 i="0" spc="120">
                <a:solidFill>
                  <a:srgbClr val="D02B2B"/>
                </a:solidFill>
                <a:latin typeface="Cascadia Mono"/>
              </a:rP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4400" b="1" i="0">
                <a:solidFill>
                  <a:srgbClr val="1E1E1E"/>
                </a:solidFill>
                <a:latin typeface="Cascadia Mono"/>
              </a:rPr>
              <a:t>Let me show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63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 i="0">
                <a:solidFill>
                  <a:srgbClr val="D02B2B"/>
                </a:solidFill>
                <a:latin typeface="Cascadia Mon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3044952"/>
            <a:ext cx="10234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 i="0">
                <a:solidFill>
                  <a:srgbClr val="55534E"/>
                </a:solidFill>
                <a:latin typeface="Georgia"/>
              </a:rPr>
              <a:t>Drag the replay cursor — the answer as it stood in March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5935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 i="0">
                <a:solidFill>
                  <a:srgbClr val="D02B2B"/>
                </a:solidFill>
                <a:latin typeface="Cascadia Mon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3575304"/>
            <a:ext cx="10234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 i="0">
                <a:solidFill>
                  <a:srgbClr val="55534E"/>
                </a:solidFill>
                <a:latin typeface="Georgia"/>
              </a:rPr>
              <a:t>Open the exception queue, pick the largest 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1239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 i="0">
                <a:solidFill>
                  <a:srgbClr val="D02B2B"/>
                </a:solidFill>
                <a:latin typeface="Cascadia Mon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4105656"/>
            <a:ext cx="10234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 i="0">
                <a:solidFill>
                  <a:srgbClr val="55534E"/>
                </a:solidFill>
                <a:latin typeface="Georgia"/>
              </a:rPr>
              <a:t>Read the dossier — records, cash movements, verdict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6542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 i="0">
                <a:solidFill>
                  <a:srgbClr val="D02B2B"/>
                </a:solidFill>
                <a:latin typeface="Cascadia Mon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4636008"/>
            <a:ext cx="10234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 i="0">
                <a:solidFill>
                  <a:srgbClr val="55534E"/>
                </a:solidFill>
                <a:latin typeface="Georgia"/>
              </a:rPr>
              <a:t>Ask the agent to explain it, then to decide 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846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300" b="1" i="0">
                <a:solidFill>
                  <a:srgbClr val="D02B2B"/>
                </a:solidFill>
                <a:latin typeface="Cascadia Mono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5166360"/>
            <a:ext cx="10234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00" b="0" i="0">
                <a:solidFill>
                  <a:srgbClr val="55534E"/>
                </a:solidFill>
                <a:latin typeface="Georgia"/>
              </a:rPr>
              <a:t>Edit the draft and commit it through the human 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